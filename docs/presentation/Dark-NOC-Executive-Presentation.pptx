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12161520" cy="2743200"/>
          </a:xfrm>
          <a:prstGeom prst="rect">
            <a:avLst/>
          </a:prstGeom>
          <a:solidFill>
            <a:srgbClr val="141F38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1440"/>
            <a:ext cx="54864" cy="38404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" y="91440"/>
            <a:ext cx="18288" cy="2743200"/>
          </a:xfrm>
          <a:prstGeom prst="rect">
            <a:avLst/>
          </a:prstGeom>
          <a:solidFill>
            <a:srgbClr val="00BFA5">
              <a:alpha val="40000"/>
            </a:srgbClr>
          </a:solidFill>
          <a:ln w="12700">
            <a:solidFill>
              <a:srgbClr val="00BFA5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00BFA5"/>
                </a:solidFill>
              </a:rPr>
              <a:t>AUTONOMOUS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Dark NOC</a:t>
            </a:r>
            <a:endParaRPr lang="en-US" sz="88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4754880" cy="54864"/>
          </a:xfrm>
          <a:prstGeom prst="rect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83464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Self-Healing Telco Edge Operations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3337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Powered by  Red Hat OpenShift AI  ·  IBM Granite 4.0  ·  LangGraph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572000"/>
            <a:ext cx="3291840" cy="1508760"/>
          </a:xfrm>
          <a:prstGeom prst="rect">
            <a:avLst/>
          </a:prstGeom>
          <a:solidFill>
            <a:srgbClr val="141F38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4572000"/>
            <a:ext cx="54864" cy="15087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77316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B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12s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40080" y="541324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Mean Time to Remediate (MTTR)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34840" y="4572000"/>
            <a:ext cx="3291840" cy="1508760"/>
          </a:xfrm>
          <a:prstGeom prst="rect">
            <a:avLst/>
          </a:prstGeom>
          <a:solidFill>
            <a:srgbClr val="141F38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0" y="4572000"/>
            <a:ext cx="54864" cy="1508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477316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94%+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4617720" y="541324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Incidents Resolved Without Human Touch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412480" y="4572000"/>
            <a:ext cx="3291840" cy="1508760"/>
          </a:xfrm>
          <a:prstGeom prst="rect">
            <a:avLst/>
          </a:prstGeom>
          <a:solidFill>
            <a:srgbClr val="141F38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0" y="4572000"/>
            <a:ext cx="54864" cy="1508760"/>
          </a:xfrm>
          <a:prstGeom prst="rect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0" y="477316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8595360" y="541324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Enterprise Tool Integrations via MCP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Red Hat  ·  Confidential  · 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00BFA5"/>
                </a:solidFill>
              </a:rPr>
              <a:t>BUSINESS CHALLENGE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NOC Is Broken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Rising complexity. Shrinking margins. Reactive operations are unsustainable.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99616"/>
            <a:ext cx="11430000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64208"/>
            <a:ext cx="5486400" cy="1965960"/>
          </a:xfrm>
          <a:prstGeom prst="rect">
            <a:avLst/>
          </a:prstGeom>
          <a:solidFill>
            <a:srgbClr val="141F38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664208"/>
            <a:ext cx="54864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0136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219456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Exponential Incident Volume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487168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5G/edge rollout multiplies monitored nodes 10–20×. Distributed failure domains generate alert storms no human team can triage in real time.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09360" y="1664208"/>
            <a:ext cx="5486400" cy="1965960"/>
          </a:xfrm>
          <a:prstGeom prst="rect">
            <a:avLst/>
          </a:prstGeom>
          <a:solidFill>
            <a:srgbClr val="141F38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664208"/>
            <a:ext cx="5486400" cy="45720"/>
          </a:xfrm>
          <a:prstGeom prst="rect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80136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🕐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92240" y="219456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High MTTR — Costly SLA Risk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2487168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Every minute of service degradation drives SLA penalties, customer churn, and brand damage. Manual triage cycles take 15–45 minutes per P1 incident.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749040"/>
            <a:ext cx="5486400" cy="1965960"/>
          </a:xfrm>
          <a:prstGeom prst="rect">
            <a:avLst/>
          </a:prstGeom>
          <a:solidFill>
            <a:srgbClr val="141F38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749040"/>
            <a:ext cx="5486400" cy="457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8862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48640" y="427939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Siloed Tools, No Closed Loop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45720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Logs in Loki, tickets in ServiceNow, alerts in Slack, automation in Ansible — no workflow connects them. Human context-switching is the integration layer.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09360" y="3749040"/>
            <a:ext cx="5486400" cy="1965960"/>
          </a:xfrm>
          <a:prstGeom prst="rect">
            <a:avLst/>
          </a:prstGeom>
          <a:solidFill>
            <a:srgbClr val="141F38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09360" y="3749040"/>
            <a:ext cx="5486400" cy="457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38862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492240" y="427939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Skill Drain on Repetitive Work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92240" y="45720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Senior engineers spend 60–70% of their time on known, repeatable incidents. High-value diagnostic capacity is wasted on mechanical runbook execution.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70C18"/>
          </a:solidFill>
          <a:ln w="12700">
            <a:solidFill>
              <a:srgbClr val="070C1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660196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Red Hat  ·  Autonomous Dark NOC  ·  Confidential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1247120" y="66019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2026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00BFA5"/>
                </a:solidFill>
              </a:rPr>
              <a:t>THE SOLUTION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Dark NOC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A fully AI-driven closed-loop operations platform — detect, analyze, remediate, escalate.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3611880" cy="4297680"/>
          </a:xfrm>
          <a:prstGeom prst="rect">
            <a:avLst/>
          </a:prstGeom>
          <a:solidFill>
            <a:srgbClr val="141F38"/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45920"/>
            <a:ext cx="361188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7452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📡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1915668" y="2606040"/>
            <a:ext cx="512064" cy="402336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15668" y="2624328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1E"/>
                </a:solidFill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31546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2920" y="354787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200" kern="0" dirty="0">
                <a:solidFill>
                  <a:srgbClr val="CBD5E1"/>
                </a:solidFill>
              </a:rPr>
              <a:t>Real-Time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3858768"/>
            <a:ext cx="2880360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005072"/>
            <a:ext cx="3246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Edge Vector logs stream to Hub Kafka in &lt; 1s. Every failure event is captured, timestamped, and routed.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97680" y="1645920"/>
            <a:ext cx="3611880" cy="4297680"/>
          </a:xfrm>
          <a:prstGeom prst="rect">
            <a:avLst/>
          </a:prstGeom>
          <a:solidFill>
            <a:srgbClr val="141F38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7680" y="1645920"/>
            <a:ext cx="361188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187452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🧠</a:t>
            </a:r>
            <a:endParaRPr lang="en-US" sz="3600" dirty="0"/>
          </a:p>
        </p:txBody>
      </p:sp>
      <p:sp>
        <p:nvSpPr>
          <p:cNvPr id="18" name="Shape 16"/>
          <p:cNvSpPr/>
          <p:nvPr/>
        </p:nvSpPr>
        <p:spPr>
          <a:xfrm>
            <a:off x="5847588" y="2606040"/>
            <a:ext cx="512064" cy="40233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47588" y="2624328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1E"/>
                </a:solidFill>
              </a:rPr>
              <a:t>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434840" y="31546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434840" y="354787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200" kern="0" dirty="0">
                <a:solidFill>
                  <a:srgbClr val="CBD5E1"/>
                </a:solidFill>
              </a:rPr>
              <a:t>AI-Powered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3858768"/>
            <a:ext cx="2880360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4005072"/>
            <a:ext cx="3246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IBM Granite 4.0 performs structured root cause analysis with RAG-grounded runbook context. Zero free-text parsing.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29600" y="1645920"/>
            <a:ext cx="3611880" cy="4297680"/>
          </a:xfrm>
          <a:prstGeom prst="rect">
            <a:avLst/>
          </a:prstGeom>
          <a:solidFill>
            <a:srgbClr val="141F38"/>
          </a:solidFill>
          <a:ln w="19050">
            <a:solidFill>
              <a:srgbClr val="EE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1645920"/>
            <a:ext cx="3611880" cy="73152"/>
          </a:xfrm>
          <a:prstGeom prst="rect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0" y="187452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🔁</a:t>
            </a:r>
            <a:endParaRPr lang="en-US" sz="3600" dirty="0"/>
          </a:p>
        </p:txBody>
      </p:sp>
      <p:sp>
        <p:nvSpPr>
          <p:cNvPr id="27" name="Shape 25"/>
          <p:cNvSpPr/>
          <p:nvPr/>
        </p:nvSpPr>
        <p:spPr>
          <a:xfrm>
            <a:off x="9779508" y="2606040"/>
            <a:ext cx="512064" cy="402336"/>
          </a:xfrm>
          <a:prstGeom prst="ellipse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79508" y="2624328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1E"/>
                </a:solidFill>
              </a:rPr>
              <a:t>3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366760" y="31546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REMEDIATE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366760" y="354787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200" kern="0" dirty="0">
                <a:solidFill>
                  <a:srgbClr val="CBD5E1"/>
                </a:solidFill>
              </a:rPr>
              <a:t>Autonomous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595360" y="3858768"/>
            <a:ext cx="2880360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0" y="4005072"/>
            <a:ext cx="3246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LangGraph agent orchestrates AAP playbooks, OpenShift restarts, and escalates to ServiceNow + Slack when needed.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977640" y="3657600"/>
            <a:ext cx="27432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0" y="351129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▶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909560" y="3657600"/>
            <a:ext cx="27432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46720" y="351129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▶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70C18"/>
          </a:solidFill>
          <a:ln w="12700">
            <a:solidFill>
              <a:srgbClr val="070C1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660196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Red Hat  ·  Autonomous Dark NOC  ·  Confidential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11247120" y="66019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2026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00BFA5"/>
                </a:solidFill>
              </a:rPr>
              <a:t>BUSINESS VALUE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Dark NOC Delivers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Measurable outcomes across operations, cost, and service quality.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64208"/>
            <a:ext cx="6766560" cy="822960"/>
          </a:xfrm>
          <a:prstGeom prst="rect">
            <a:avLst/>
          </a:prstGeom>
          <a:solidFill>
            <a:srgbClr val="141F38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64208"/>
            <a:ext cx="54864" cy="8229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664208"/>
            <a:ext cx="54864" cy="8229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7190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FA5"/>
                </a:solidFill>
              </a:rPr>
              <a:t>⚡  Faster Incident Response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204825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&lt; 12 seconds MTTR for routine failures. AI analysis + AAP execution runs in parallel with edge fast-path remediation.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615184"/>
            <a:ext cx="6766560" cy="822960"/>
          </a:xfrm>
          <a:prstGeom prst="rect">
            <a:avLst/>
          </a:prstGeom>
          <a:solidFill>
            <a:srgbClr val="141F38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615184"/>
            <a:ext cx="54864" cy="8229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615184"/>
            <a:ext cx="54864" cy="8229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6700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C55E"/>
                </a:solidFill>
              </a:rPr>
              <a:t>💰  Lower Operational Cost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66928" y="299923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Automate 94%+ of known incidents. Engineers focus on innovation, not repetitive runbook execution — recovering 60–70% of NOC bandwidth.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566160"/>
            <a:ext cx="6766560" cy="822960"/>
          </a:xfrm>
          <a:prstGeom prst="rect">
            <a:avLst/>
          </a:prstGeom>
          <a:solidFill>
            <a:srgbClr val="141F38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566160"/>
            <a:ext cx="54864" cy="8229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566160"/>
            <a:ext cx="54864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6210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</a:rPr>
              <a:t>📋  SLA Breach Reduction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66928" y="395020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Faster restoration directly reduces SLA penalty exposure. Every second of MTTR saved is a risk mitigation event for high-priority SLAs.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517136"/>
            <a:ext cx="6766560" cy="822960"/>
          </a:xfrm>
          <a:prstGeom prst="rect">
            <a:avLst/>
          </a:prstGeom>
          <a:solidFill>
            <a:srgbClr val="141F38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517136"/>
            <a:ext cx="54864" cy="8229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4517136"/>
            <a:ext cx="54864" cy="822960"/>
          </a:xfrm>
          <a:prstGeom prst="rect">
            <a:avLst/>
          </a:prstGeom>
          <a:solidFill>
            <a:srgbClr val="4DD9C8"/>
          </a:solidFill>
          <a:ln w="12700">
            <a:solidFill>
              <a:srgbClr val="4DD9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5720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DD9C8"/>
                </a:solidFill>
              </a:rPr>
              <a:t>🔍  Full Observability &amp; Audit Trail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66928" y="4901184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Every AI decision traced in Langfuse. Every action logged in ServiceNow. Full chain of custody for compliance and post-incident review.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5468112"/>
            <a:ext cx="6766560" cy="822960"/>
          </a:xfrm>
          <a:prstGeom prst="rect">
            <a:avLst/>
          </a:prstGeom>
          <a:solidFill>
            <a:srgbClr val="141F38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5468112"/>
            <a:ext cx="54864" cy="8229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5468112"/>
            <a:ext cx="54864" cy="822960"/>
          </a:xfrm>
          <a:prstGeom prst="rect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552297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0000"/>
                </a:solidFill>
              </a:rPr>
              <a:t>📈  Platform Consolidation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66928" y="58521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One AI-integrated operations model across edge and hub — replacing fragmented tool chains with a unified, governed workflow.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498080" y="1664208"/>
            <a:ext cx="4297680" cy="1463040"/>
          </a:xfrm>
          <a:prstGeom prst="rect">
            <a:avLst/>
          </a:prstGeom>
          <a:solidFill>
            <a:srgbClr val="1B2B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498080" y="1664208"/>
            <a:ext cx="4297680" cy="457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0" y="184708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B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12s</a:t>
            </a:r>
            <a:endParaRPr lang="en-US" sz="5200" dirty="0"/>
          </a:p>
        </p:txBody>
      </p:sp>
      <p:sp>
        <p:nvSpPr>
          <p:cNvPr id="34" name="Text 32"/>
          <p:cNvSpPr/>
          <p:nvPr/>
        </p:nvSpPr>
        <p:spPr>
          <a:xfrm>
            <a:off x="7498080" y="259689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MTTR for Known Incidents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498080" y="3364992"/>
            <a:ext cx="4297680" cy="1463040"/>
          </a:xfrm>
          <a:prstGeom prst="rect">
            <a:avLst/>
          </a:prstGeom>
          <a:solidFill>
            <a:srgbClr val="1B2B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498080" y="3364992"/>
            <a:ext cx="429768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8080" y="3547872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94%+</a:t>
            </a:r>
            <a:endParaRPr lang="en-US" sz="5200" dirty="0"/>
          </a:p>
        </p:txBody>
      </p:sp>
      <p:sp>
        <p:nvSpPr>
          <p:cNvPr id="38" name="Text 36"/>
          <p:cNvSpPr/>
          <p:nvPr/>
        </p:nvSpPr>
        <p:spPr>
          <a:xfrm>
            <a:off x="7498080" y="429768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Auto-Remediation Rate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498080" y="5065776"/>
            <a:ext cx="4297680" cy="1463040"/>
          </a:xfrm>
          <a:prstGeom prst="rect">
            <a:avLst/>
          </a:prstGeom>
          <a:solidFill>
            <a:srgbClr val="1B2B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498080" y="5065776"/>
            <a:ext cx="42976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98080" y="5248656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hrs</a:t>
            </a:r>
            <a:endParaRPr lang="en-US" sz="5200" dirty="0"/>
          </a:p>
        </p:txBody>
      </p:sp>
      <p:sp>
        <p:nvSpPr>
          <p:cNvPr id="42" name="Text 40"/>
          <p:cNvSpPr/>
          <p:nvPr/>
        </p:nvSpPr>
        <p:spPr>
          <a:xfrm>
            <a:off x="7498080" y="599846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NOC Bandwidth Recovered / Week / Engineer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70C18"/>
          </a:solidFill>
          <a:ln w="12700">
            <a:solidFill>
              <a:srgbClr val="070C1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660196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Red Hat  ·  Autonomous Dark NOC  ·  Confidential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11247120" y="66019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2026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00BFA5"/>
                </a:solidFill>
              </a:rPr>
              <a:t>PLATFORM FOUNDATION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Red Hat for Telco AI Operations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754880" cy="5257800"/>
          </a:xfrm>
          <a:prstGeom prst="rect">
            <a:avLst/>
          </a:prstGeom>
          <a:solidFill>
            <a:srgbClr val="141F38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4754880" cy="54864"/>
          </a:xfrm>
          <a:prstGeom prst="rect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Enterprise AI Platform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Telco Operations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2368296"/>
            <a:ext cx="292608" cy="292608"/>
          </a:xfrm>
          <a:prstGeom prst="ellipse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368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🔒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331720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Enterprise-grade security: RBAC, namespace isolation, cert-manager, sealed secrets — built in, not bolted on.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3072384"/>
            <a:ext cx="292608" cy="292608"/>
          </a:xfrm>
          <a:prstGeom prst="ellipse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072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☁️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3035808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Hybrid consistency: same OpenShift platform on-prem, public cloud, and telco edge. One operating model.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3776472"/>
            <a:ext cx="292608" cy="292608"/>
          </a:xfrm>
          <a:prstGeom prst="ellipse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776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🤖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3739896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OpenShift AI: production MLOps platform with LlamaStack, vLLM, and GPU-accelerated inference — all operator-managed.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" y="4480560"/>
            <a:ext cx="292608" cy="292608"/>
          </a:xfrm>
          <a:prstGeom prst="ellipse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480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⚙️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5840" y="4443984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Ansible AAP: governed automation execution with approval flows, audit logging, and event-driven triggers.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" y="5184648"/>
            <a:ext cx="292608" cy="292608"/>
          </a:xfrm>
          <a:prstGeom prst="ellipse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5184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🌐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5840" y="5148072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ACM multi-cluster: policy-based fleet management. One hub controls hundreds of edge sites uniformly.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" y="5888736"/>
            <a:ext cx="292608" cy="292608"/>
          </a:xfrm>
          <a:prstGeom prst="ellipse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5888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📞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05840" y="5852160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Red Hat Support + Lifecycle: enterprise SLA, long-term support, and Telco validated configurations.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577840" y="1234440"/>
            <a:ext cx="6217920" cy="1572768"/>
          </a:xfrm>
          <a:prstGeom prst="rect">
            <a:avLst/>
          </a:prstGeom>
          <a:solidFill>
            <a:srgbClr val="141F38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77840" y="1234440"/>
            <a:ext cx="6217920" cy="457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0" y="1399032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FA5"/>
                </a:solidFill>
              </a:rPr>
              <a:t>Open Source Foundation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760720" y="1764792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Built on upstream Kubernetes, Kafka, PostgreSQL, and Python. No vendor lock-in on the components that matter.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577840" y="2990088"/>
            <a:ext cx="6217920" cy="1572768"/>
          </a:xfrm>
          <a:prstGeom prst="rect">
            <a:avLst/>
          </a:prstGeom>
          <a:solidFill>
            <a:srgbClr val="141F38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577840" y="2990088"/>
            <a:ext cx="6217920" cy="457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60720" y="3154680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FA5"/>
                </a:solidFill>
              </a:rPr>
              <a:t>Telco-Proven Platform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760720" y="3520440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Deployed at Tier 1 telcos worldwide. RAN, core, and edge validated configurations. OpenShift for telco CNFs.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577840" y="4745736"/>
            <a:ext cx="6217920" cy="1572768"/>
          </a:xfrm>
          <a:prstGeom prst="rect">
            <a:avLst/>
          </a:prstGeom>
          <a:solidFill>
            <a:srgbClr val="141F38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577840" y="4745736"/>
            <a:ext cx="6217920" cy="457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60720" y="4910328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FA5"/>
                </a:solidFill>
              </a:rPr>
              <a:t>AI + Automation United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760720" y="5276088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Only Red Hat delivers AI (RHOAI) and Automation (AAP) on the same platform, with shared governance and lifecycle.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70C18"/>
          </a:solidFill>
          <a:ln w="12700">
            <a:solidFill>
              <a:srgbClr val="070C1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660196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Red Hat  ·  Autonomous Dark NOC  ·  Confidential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11247120" y="66019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2026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00BFA5"/>
                </a:solidFill>
              </a:rPr>
              <a:t>RED HAT PLATFORM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Product Stack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Every component is operator-managed, enterprise-supported, and telco-validated.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36192"/>
            <a:ext cx="3703320" cy="2286000"/>
          </a:xfrm>
          <a:prstGeom prst="rect">
            <a:avLst/>
          </a:prstGeom>
          <a:solidFill>
            <a:srgbClr val="141F38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36192"/>
            <a:ext cx="3703320" cy="45720"/>
          </a:xfrm>
          <a:prstGeom prst="rect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1627632"/>
            <a:ext cx="731520" cy="228600"/>
          </a:xfrm>
          <a:prstGeom prst="rect">
            <a:avLst/>
          </a:prstGeom>
          <a:solidFill>
            <a:srgbClr val="EE0000">
              <a:alpha val="30000"/>
            </a:srgbClr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6276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E0000"/>
                </a:solidFill>
              </a:rPr>
              <a:t>v4.21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02920" y="1700784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OpenShift Container Platform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2084832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EE0000"/>
                </a:solidFill>
              </a:rPr>
              <a:t>Application &amp; Operations Platform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2340864"/>
            <a:ext cx="3429000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414016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Kubernetes enterprise platform running ALL Dark NOC services across hub and edge. GPU scheduling, SNO support, and operator lifecycle management.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97680" y="1536192"/>
            <a:ext cx="3703320" cy="2286000"/>
          </a:xfrm>
          <a:prstGeom prst="rect">
            <a:avLst/>
          </a:prstGeom>
          <a:solidFill>
            <a:srgbClr val="141F38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97680" y="1536192"/>
            <a:ext cx="3703320" cy="457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78040" y="1627632"/>
            <a:ext cx="731520" cy="228600"/>
          </a:xfrm>
          <a:prstGeom prst="rect">
            <a:avLst/>
          </a:prstGeom>
          <a:solidFill>
            <a:srgbClr val="00BFA5">
              <a:alpha val="30000"/>
            </a:srgbClr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78040" y="16276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BFA5"/>
                </a:solidFill>
              </a:rPr>
              <a:t>v3.3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434840" y="1700784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Red Hat OpenShift AI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434840" y="2084832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00BFA5"/>
                </a:solidFill>
              </a:rPr>
              <a:t>MLOps &amp; AI Inference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434840" y="2340864"/>
            <a:ext cx="3429000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34840" y="2414016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Serves IBM Granite 4.0 via vLLM on NVIDIA A10G GPU. LlamaStack Operator provides agent framework. pgvector RAG integrated natively.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229600" y="1536192"/>
            <a:ext cx="3703320" cy="2286000"/>
          </a:xfrm>
          <a:prstGeom prst="rect">
            <a:avLst/>
          </a:prstGeom>
          <a:solidFill>
            <a:srgbClr val="141F38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0" y="1536192"/>
            <a:ext cx="37033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109960" y="1627632"/>
            <a:ext cx="731520" cy="228600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109960" y="16276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v2.5 + EDA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366760" y="1700784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Ansible Automation Platform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366760" y="2084832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F59E0B"/>
                </a:solidFill>
              </a:rPr>
              <a:t>Governed Remediation Engine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366760" y="2340864"/>
            <a:ext cx="3429000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66760" y="2414016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Executes restart and remediation playbooks triggered by both AI agent (smart path) and Event-Driven Ansible (fast path). Full audit logging.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4005072"/>
            <a:ext cx="3703320" cy="2286000"/>
          </a:xfrm>
          <a:prstGeom prst="rect">
            <a:avLst/>
          </a:prstGeom>
          <a:solidFill>
            <a:srgbClr val="141F38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4005072"/>
            <a:ext cx="3703320" cy="45720"/>
          </a:xfrm>
          <a:prstGeom prst="rect">
            <a:avLst/>
          </a:prstGeom>
          <a:solidFill>
            <a:srgbClr val="4DD9C8"/>
          </a:solidFill>
          <a:ln w="12700">
            <a:solidFill>
              <a:srgbClr val="4DD9C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46120" y="4096512"/>
            <a:ext cx="731520" cy="228600"/>
          </a:xfrm>
          <a:prstGeom prst="rect">
            <a:avLst/>
          </a:prstGeom>
          <a:solidFill>
            <a:srgbClr val="4DD9C8">
              <a:alpha val="30000"/>
            </a:srgbClr>
          </a:solidFill>
          <a:ln w="12700">
            <a:solidFill>
              <a:srgbClr val="4DD9C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46120" y="409651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DD9C8"/>
                </a:solidFill>
              </a:rPr>
              <a:t>v2.15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02920" y="4169664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Advanced Cluster Management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02920" y="4553712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4DD9C8"/>
                </a:solidFill>
              </a:rPr>
              <a:t>Multi-Cluster Fleet Control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" y="4809744"/>
            <a:ext cx="3429000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4882896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Hub cluster controls edge sites with policy-based governance. Argo CD Pull Agent delivers GitOps changes without opening inbound firewall ports.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297680" y="4005072"/>
            <a:ext cx="3703320" cy="2286000"/>
          </a:xfrm>
          <a:prstGeom prst="rect">
            <a:avLst/>
          </a:prstGeom>
          <a:solidFill>
            <a:srgbClr val="141F38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297680" y="4005072"/>
            <a:ext cx="370332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78040" y="4096512"/>
            <a:ext cx="731520" cy="228600"/>
          </a:xfrm>
          <a:prstGeom prst="rect">
            <a:avLst/>
          </a:prstGeom>
          <a:solidFill>
            <a:srgbClr val="22C55E">
              <a:alpha val="3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78040" y="409651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C55E"/>
                </a:solidFill>
              </a:rPr>
              <a:t>v3.1 KRaft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434840" y="4169664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Streams for Apache Kafka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434840" y="4553712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22C55E"/>
                </a:solidFill>
              </a:rPr>
              <a:t>Event Streaming Backbone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434840" y="4809744"/>
            <a:ext cx="3429000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34840" y="4882896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Real-time log streaming from edge to hub in &lt; 1 second. KRaft mode (no ZooKeeper). 5 topics: nginx-logs, incidents, remediation, alerts, audit.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229600" y="4005072"/>
            <a:ext cx="3703320" cy="2286000"/>
          </a:xfrm>
          <a:prstGeom prst="rect">
            <a:avLst/>
          </a:prstGeom>
          <a:solidFill>
            <a:srgbClr val="141F38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229600" y="4005072"/>
            <a:ext cx="3703320" cy="457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109960" y="4096512"/>
            <a:ext cx="731520" cy="228600"/>
          </a:xfrm>
          <a:prstGeom prst="rect">
            <a:avLst/>
          </a:prstGeom>
          <a:solidFill>
            <a:srgbClr val="CBD5E1">
              <a:alpha val="3000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109960" y="409651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BD5E1"/>
                </a:solidFill>
              </a:rPr>
              <a:t>v6.4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8366760" y="4169664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OpenShift Logging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8366760" y="4553712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BD5E1"/>
                </a:solidFill>
              </a:rPr>
              <a:t>Centralized Log Collection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366760" y="4809744"/>
            <a:ext cx="3429000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366760" y="4882896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Vector DaemonSet on edge forwards pod logs to Hub LokiStack. Zero configuration needed on workloads. 7-day retention for all edge logs.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70C18"/>
          </a:solidFill>
          <a:ln w="12700">
            <a:solidFill>
              <a:srgbClr val="070C1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660196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Red Hat  ·  Autonomous Dark NOC  ·  Confidential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11247120" y="66019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2026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00BFA5"/>
                </a:solidFill>
              </a:rPr>
              <a:t>ARCHITECTURE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Hub + Edge Architecture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Two-cluster OpenShift topology: AI intelligence on Hub, monitored workloads on Edge.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7955280" cy="4892040"/>
          </a:xfrm>
          <a:prstGeom prst="rect">
            <a:avLst/>
          </a:prstGeom>
          <a:solidFill>
            <a:srgbClr val="141F38"/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72768"/>
            <a:ext cx="7955280" cy="5486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4592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BFA5"/>
                </a:solidFill>
              </a:rPr>
              <a:t>HUB SNO CLUSTER  —  AWS  —  m5.4xlarge + g5.2xlarge (NVIDIA A10G)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1828800" cy="4114800"/>
          </a:xfrm>
          <a:prstGeom prst="rect">
            <a:avLst/>
          </a:prstGeom>
          <a:solidFill>
            <a:srgbClr val="1B2B4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574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CBD5E1"/>
                </a:solidFill>
              </a:rPr>
              <a:t>DATA LAYER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40080" y="2395728"/>
            <a:ext cx="1645920" cy="594360"/>
          </a:xfrm>
          <a:prstGeom prst="rect">
            <a:avLst/>
          </a:prstGeom>
          <a:solidFill>
            <a:srgbClr val="141F38"/>
          </a:solidFill>
          <a:ln w="3810">
            <a:solidFill>
              <a:srgbClr val="00B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4688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DD9C8"/>
                </a:solidFill>
              </a:rPr>
              <a:t>Kafka 3.1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DD9C8"/>
                </a:solidFill>
              </a:rPr>
              <a:t>(KRaft)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40080" y="3145536"/>
            <a:ext cx="1645920" cy="594360"/>
          </a:xfrm>
          <a:prstGeom prst="rect">
            <a:avLst/>
          </a:prstGeom>
          <a:solidFill>
            <a:srgbClr val="141F38"/>
          </a:solidFill>
          <a:ln w="3810">
            <a:solidFill>
              <a:srgbClr val="00B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21868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DD9C8"/>
                </a:solidFill>
              </a:rPr>
              <a:t>LokiStack 6.4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DD9C8"/>
                </a:solidFill>
              </a:rPr>
              <a:t>Log Store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0080" y="3895344"/>
            <a:ext cx="1645920" cy="594360"/>
          </a:xfrm>
          <a:prstGeom prst="rect">
            <a:avLst/>
          </a:prstGeom>
          <a:solidFill>
            <a:srgbClr val="141F38"/>
          </a:solidFill>
          <a:ln w="3810">
            <a:solidFill>
              <a:srgbClr val="00BF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968496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DD9C8"/>
                </a:solidFill>
              </a:rPr>
              <a:t>MinIO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DD9C8"/>
                </a:solidFill>
              </a:rPr>
              <a:t>Object Store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40080" y="4645152"/>
            <a:ext cx="1645920" cy="594360"/>
          </a:xfrm>
          <a:prstGeom prst="rect">
            <a:avLst/>
          </a:prstGeom>
          <a:solidFill>
            <a:srgbClr val="141F38"/>
          </a:solidFill>
          <a:ln w="3810">
            <a:solidFill>
              <a:srgbClr val="00B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471830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DD9C8"/>
                </a:solidFill>
              </a:rPr>
              <a:t>pgvector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DD9C8"/>
                </a:solidFill>
              </a:rPr>
              <a:t>RAG KB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40080" y="5394960"/>
            <a:ext cx="1645920" cy="594360"/>
          </a:xfrm>
          <a:prstGeom prst="rect">
            <a:avLst/>
          </a:prstGeom>
          <a:solidFill>
            <a:srgbClr val="141F38"/>
          </a:solidFill>
          <a:ln w="3810">
            <a:solidFill>
              <a:srgbClr val="00BF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546811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DD9C8"/>
                </a:solidFill>
              </a:rPr>
              <a:t>Langfuse 3.x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DD9C8"/>
                </a:solidFill>
              </a:rPr>
              <a:t>AI Traces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560320" y="2011680"/>
            <a:ext cx="2286000" cy="4114800"/>
          </a:xfrm>
          <a:prstGeom prst="rect">
            <a:avLst/>
          </a:prstGeom>
          <a:solidFill>
            <a:srgbClr val="1B2B4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0" y="205740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CBD5E1"/>
                </a:solidFill>
              </a:rPr>
              <a:t>AI INFERENCE LAYER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651760" y="2395728"/>
            <a:ext cx="2103120" cy="594360"/>
          </a:xfrm>
          <a:prstGeom prst="rect">
            <a:avLst/>
          </a:prstGeom>
          <a:solidFill>
            <a:srgbClr val="141F38"/>
          </a:solidFill>
          <a:ln w="3810">
            <a:solidFill>
              <a:srgbClr val="00BF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97480" y="2450592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</a:rPr>
              <a:t>RHOAI 3.3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97480" y="26974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MLOps Platform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651760" y="3145536"/>
            <a:ext cx="2103120" cy="594360"/>
          </a:xfrm>
          <a:prstGeom prst="rect">
            <a:avLst/>
          </a:prstGeom>
          <a:solidFill>
            <a:srgbClr val="141F38"/>
          </a:solidFill>
          <a:ln w="3810">
            <a:solidFill>
              <a:srgbClr val="4DD9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97480" y="320040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DD9C8"/>
                </a:solidFill>
              </a:rPr>
              <a:t>vLLM 0.15.1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697480" y="34472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Inference Runtime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651760" y="3895344"/>
            <a:ext cx="2103120" cy="594360"/>
          </a:xfrm>
          <a:prstGeom prst="rect">
            <a:avLst/>
          </a:prstGeom>
          <a:solidFill>
            <a:srgbClr val="141F38"/>
          </a:solidFill>
          <a:ln w="381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97480" y="395020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Granite 4.0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697480" y="41970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IBM AI Model (A10G)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651760" y="4645152"/>
            <a:ext cx="2103120" cy="594360"/>
          </a:xfrm>
          <a:prstGeom prst="rect">
            <a:avLst/>
          </a:prstGeom>
          <a:solidFill>
            <a:srgbClr val="141F38"/>
          </a:solidFill>
          <a:ln w="381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97480" y="4700016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LlamaStack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697480" y="494690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Agent Framework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651760" y="5394960"/>
            <a:ext cx="2103120" cy="594360"/>
          </a:xfrm>
          <a:prstGeom prst="rect">
            <a:avLst/>
          </a:prstGeom>
          <a:solidFill>
            <a:srgbClr val="141F38"/>
          </a:solidFill>
          <a:ln w="3810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97480" y="5449824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LangGraph 1.0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697480" y="56967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NOC Agent Graph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029200" y="2011680"/>
            <a:ext cx="1920240" cy="4114800"/>
          </a:xfrm>
          <a:prstGeom prst="rect">
            <a:avLst/>
          </a:prstGeom>
          <a:solidFill>
            <a:srgbClr val="1B2B4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20574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CBD5E1"/>
                </a:solidFill>
              </a:rPr>
              <a:t>AUTOMATION LAYER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120640" y="2395728"/>
            <a:ext cx="1737360" cy="594360"/>
          </a:xfrm>
          <a:prstGeom prst="rect">
            <a:avLst/>
          </a:prstGeom>
          <a:solidFill>
            <a:srgbClr val="141F38"/>
          </a:solidFill>
          <a:ln w="3810">
            <a:solidFill>
              <a:srgbClr val="EE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66360" y="2450592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0000"/>
                </a:solidFill>
              </a:rPr>
              <a:t>AAP 2.5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166360" y="26974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Controller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120640" y="3145536"/>
            <a:ext cx="1737360" cy="594360"/>
          </a:xfrm>
          <a:prstGeom prst="rect">
            <a:avLst/>
          </a:prstGeom>
          <a:solidFill>
            <a:srgbClr val="141F38"/>
          </a:solidFill>
          <a:ln w="381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66360" y="320040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EDA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166360" y="344728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Event-Driven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120640" y="3895344"/>
            <a:ext cx="1737360" cy="594360"/>
          </a:xfrm>
          <a:prstGeom prst="rect">
            <a:avLst/>
          </a:prstGeom>
          <a:solidFill>
            <a:srgbClr val="141F38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66360" y="3950208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ACM 2.15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166360" y="419709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Multi-Cluster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5120640" y="4645152"/>
            <a:ext cx="1737360" cy="594360"/>
          </a:xfrm>
          <a:prstGeom prst="rect">
            <a:avLst/>
          </a:prstGeom>
          <a:solidFill>
            <a:srgbClr val="141F38"/>
          </a:solidFill>
          <a:ln w="3810">
            <a:solidFill>
              <a:srgbClr val="00BFA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66360" y="4700016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</a:rPr>
              <a:t>6× MCP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166360" y="494690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Tool Servers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120640" y="5394960"/>
            <a:ext cx="1737360" cy="594360"/>
          </a:xfrm>
          <a:prstGeom prst="rect">
            <a:avLst/>
          </a:prstGeom>
          <a:solidFill>
            <a:srgbClr val="141F38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66360" y="5449824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FastMCP 3.0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166360" y="56967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HTTP Transport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7132320" y="2011680"/>
            <a:ext cx="1005840" cy="4114800"/>
          </a:xfrm>
          <a:prstGeom prst="rect">
            <a:avLst/>
          </a:prstGeom>
          <a:solidFill>
            <a:srgbClr val="1B2B4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32320" y="205740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CBD5E1"/>
                </a:solidFill>
              </a:rPr>
              <a:t>UX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7178040" y="2395728"/>
            <a:ext cx="914400" cy="749808"/>
          </a:xfrm>
          <a:prstGeom prst="rect">
            <a:avLst/>
          </a:prstGeom>
          <a:solidFill>
            <a:srgbClr val="141F38"/>
          </a:solidFill>
          <a:ln w="3810">
            <a:solidFill>
              <a:srgbClr val="00BFA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178040" y="2505456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BFA5"/>
                </a:solidFill>
              </a:rPr>
              <a:t>NOC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BFA5"/>
                </a:solidFill>
              </a:rPr>
              <a:t>Dash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178040" y="3328416"/>
            <a:ext cx="914400" cy="749808"/>
          </a:xfrm>
          <a:prstGeom prst="rect">
            <a:avLst/>
          </a:prstGeom>
          <a:solidFill>
            <a:srgbClr val="141F38"/>
          </a:solidFill>
          <a:ln w="3810">
            <a:solidFill>
              <a:srgbClr val="22C55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78040" y="3438144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C55E"/>
                </a:solidFill>
              </a:rPr>
              <a:t>Chat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2C55E"/>
                </a:solidFill>
              </a:rPr>
              <a:t>bot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7178040" y="4261104"/>
            <a:ext cx="914400" cy="749808"/>
          </a:xfrm>
          <a:prstGeom prst="rect">
            <a:avLst/>
          </a:prstGeom>
          <a:solidFill>
            <a:srgbClr val="141F38"/>
          </a:solidFill>
          <a:ln w="3810">
            <a:solidFill>
              <a:srgbClr val="F59E0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178040" y="4370832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Service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Now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7178040" y="5193792"/>
            <a:ext cx="914400" cy="749808"/>
          </a:xfrm>
          <a:prstGeom prst="rect">
            <a:avLst/>
          </a:prstGeom>
          <a:solidFill>
            <a:srgbClr val="141F38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78040" y="530352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Slack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Alerts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2286000" y="6446520"/>
            <a:ext cx="4206240" cy="457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828800" y="619963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DD9C8"/>
                </a:solidFill>
              </a:rPr>
              <a:t>Kafka TLS  ·  ACM Pull Agent  ·  AAP API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402336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FA5"/>
                </a:solidFill>
              </a:rPr>
              <a:t>↓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8686800" y="1572768"/>
            <a:ext cx="3108960" cy="4892040"/>
          </a:xfrm>
          <a:prstGeom prst="rect">
            <a:avLst/>
          </a:prstGeom>
          <a:solidFill>
            <a:srgbClr val="141F38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686800" y="1572768"/>
            <a:ext cx="31089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796528" y="164592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59E0B"/>
                </a:solidFill>
              </a:rPr>
              <a:t>EDGE SNO CLUSTER  —  AWS  —  m5.2xlarge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8823960" y="2011680"/>
            <a:ext cx="2834640" cy="658368"/>
          </a:xfrm>
          <a:prstGeom prst="rect">
            <a:avLst/>
          </a:prstGeom>
          <a:solidFill>
            <a:srgbClr val="1B2B4A"/>
          </a:solidFill>
          <a:ln w="6350">
            <a:solidFill>
              <a:srgbClr val="EE000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915400" y="208483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E0000"/>
                </a:solidFill>
              </a:rPr>
              <a:t>nginx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8915400" y="235915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(Monitored VNF)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8823960" y="2834640"/>
            <a:ext cx="2834640" cy="658368"/>
          </a:xfrm>
          <a:prstGeom prst="rect">
            <a:avLst/>
          </a:prstGeom>
          <a:solidFill>
            <a:srgbClr val="1B2B4A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915400" y="290779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Log Generator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8915400" y="318211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Failure Simulator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8823960" y="3657600"/>
            <a:ext cx="2834640" cy="658368"/>
          </a:xfrm>
          <a:prstGeom prst="rect">
            <a:avLst/>
          </a:prstGeom>
          <a:solidFill>
            <a:srgbClr val="1B2B4A"/>
          </a:solidFill>
          <a:ln w="6350">
            <a:solidFill>
              <a:srgbClr val="00BFA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915400" y="373075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FA5"/>
                </a:solidFill>
              </a:rPr>
              <a:t>Vector DS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8915400" y="400507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Log Forwarder → Hub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8823960" y="4480560"/>
            <a:ext cx="2834640" cy="658368"/>
          </a:xfrm>
          <a:prstGeom prst="rect">
            <a:avLst/>
          </a:prstGeom>
          <a:solidFill>
            <a:srgbClr val="1B2B4A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915400" y="455371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EDA Runner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8915400" y="482803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Edge Fast-Path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8823960" y="5303520"/>
            <a:ext cx="2834640" cy="658368"/>
          </a:xfrm>
          <a:prstGeom prst="rect">
            <a:avLst/>
          </a:prstGeom>
          <a:solidFill>
            <a:srgbClr val="1B2B4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915400" y="537667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BD5E1"/>
                </a:solidFill>
              </a:rPr>
              <a:t>ACM Klusterlet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8915400" y="565099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Hub-Managed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70C18"/>
          </a:solidFill>
          <a:ln w="12700">
            <a:solidFill>
              <a:srgbClr val="070C1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65760" y="660196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Red Hat  ·  Autonomous Dark NOC  ·  Confidential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11247120" y="66019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2026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00BFA5"/>
                </a:solidFill>
              </a:rPr>
              <a:t>WORKFLOW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12-Second Remediation Journey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Two parallel tracks execute simultaneously — fast-path EDA + AI deep analysis.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108960"/>
            <a:ext cx="11247120" cy="36576"/>
          </a:xfrm>
          <a:prstGeom prst="rect">
            <a:avLst/>
          </a:prstGeom>
          <a:solidFill>
            <a:srgbClr val="243352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26080"/>
            <a:ext cx="384048" cy="384048"/>
          </a:xfrm>
          <a:prstGeom prst="ellipse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5256" y="2487168"/>
            <a:ext cx="36576" cy="457200"/>
          </a:xfrm>
          <a:prstGeom prst="rect">
            <a:avLst/>
          </a:prstGeom>
          <a:solidFill>
            <a:srgbClr val="EE0000">
              <a:alpha val="60000"/>
            </a:srgbClr>
          </a:solidFill>
          <a:ln w="12700">
            <a:solidFill>
              <a:srgbClr val="EE0000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536192"/>
            <a:ext cx="1508760" cy="1417320"/>
          </a:xfrm>
          <a:prstGeom prst="rect">
            <a:avLst/>
          </a:prstGeom>
          <a:solidFill>
            <a:srgbClr val="141F38"/>
          </a:solidFill>
          <a:ln w="10160">
            <a:solidFill>
              <a:srgbClr val="EE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536192"/>
            <a:ext cx="1508760" cy="36576"/>
          </a:xfrm>
          <a:prstGeom prst="rect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60934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E0000"/>
                </a:solidFill>
              </a:rPr>
              <a:t>T+0s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188366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Failure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212848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Edge nginx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OOMKilled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23160" y="292608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96896" y="3127248"/>
            <a:ext cx="36576" cy="438912"/>
          </a:xfrm>
          <a:prstGeom prst="rect">
            <a:avLst/>
          </a:prstGeom>
          <a:solidFill>
            <a:srgbClr val="F59E0B">
              <a:alpha val="60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48840" y="3566160"/>
            <a:ext cx="1508760" cy="1417320"/>
          </a:xfrm>
          <a:prstGeom prst="rect">
            <a:avLst/>
          </a:prstGeom>
          <a:solidFill>
            <a:srgbClr val="141F38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48840" y="3566160"/>
            <a:ext cx="150876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40280" y="36393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T+1s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40280" y="391363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Capture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40280" y="4242816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Vector picks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up crash log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0" y="2926080"/>
            <a:ext cx="384048" cy="384048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88536" y="2487168"/>
            <a:ext cx="36576" cy="457200"/>
          </a:xfrm>
          <a:prstGeom prst="rect">
            <a:avLst/>
          </a:prstGeom>
          <a:solidFill>
            <a:srgbClr val="00BFA5">
              <a:alpha val="60000"/>
            </a:srgbClr>
          </a:solidFill>
          <a:ln w="12700">
            <a:solidFill>
              <a:srgbClr val="00BFA5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0" y="1536192"/>
            <a:ext cx="1508760" cy="1417320"/>
          </a:xfrm>
          <a:prstGeom prst="rect">
            <a:avLst/>
          </a:prstGeom>
          <a:solidFill>
            <a:srgbClr val="141F38"/>
          </a:solidFill>
          <a:ln w="10160">
            <a:solidFill>
              <a:srgbClr val="00BFA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0" y="1536192"/>
            <a:ext cx="1508760" cy="36576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0" y="160934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FA5"/>
                </a:solidFill>
              </a:rPr>
              <a:t>T+2s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931920" y="188366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Stream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931920" y="2212848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Kafka receives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log event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806440" y="2926080"/>
            <a:ext cx="384048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80176" y="3127248"/>
            <a:ext cx="36576" cy="438912"/>
          </a:xfrm>
          <a:prstGeom prst="rect">
            <a:avLst/>
          </a:prstGeom>
          <a:solidFill>
            <a:srgbClr val="22C55E">
              <a:alpha val="60000"/>
            </a:srgbClr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32120" y="3566160"/>
            <a:ext cx="1508760" cy="1417320"/>
          </a:xfrm>
          <a:prstGeom prst="rect">
            <a:avLst/>
          </a:prstGeom>
          <a:solidFill>
            <a:srgbClr val="141F38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32120" y="3566160"/>
            <a:ext cx="150876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23560" y="36393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T+5s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623560" y="391363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Parallel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Analysis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23560" y="4242816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EDA fast-path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+ AI analysis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498080" y="2926080"/>
            <a:ext cx="384048" cy="384048"/>
          </a:xfrm>
          <a:prstGeom prst="ellipse">
            <a:avLst/>
          </a:prstGeom>
          <a:solidFill>
            <a:srgbClr val="4DD9C8"/>
          </a:solidFill>
          <a:ln w="12700">
            <a:solidFill>
              <a:srgbClr val="4DD9C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71816" y="2487168"/>
            <a:ext cx="36576" cy="457200"/>
          </a:xfrm>
          <a:prstGeom prst="rect">
            <a:avLst/>
          </a:prstGeom>
          <a:solidFill>
            <a:srgbClr val="4DD9C8">
              <a:alpha val="60000"/>
            </a:srgbClr>
          </a:solidFill>
          <a:ln w="12700">
            <a:solidFill>
              <a:srgbClr val="4DD9C8">
                <a:alpha val="6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23760" y="1536192"/>
            <a:ext cx="1508760" cy="1417320"/>
          </a:xfrm>
          <a:prstGeom prst="rect">
            <a:avLst/>
          </a:prstGeom>
          <a:solidFill>
            <a:srgbClr val="141F38"/>
          </a:solidFill>
          <a:ln w="10160">
            <a:solidFill>
              <a:srgbClr val="4DD9C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223760" y="1536192"/>
            <a:ext cx="1508760" cy="36576"/>
          </a:xfrm>
          <a:prstGeom prst="rect">
            <a:avLst/>
          </a:prstGeom>
          <a:solidFill>
            <a:srgbClr val="4DD9C8"/>
          </a:solidFill>
          <a:ln w="12700">
            <a:solidFill>
              <a:srgbClr val="4DD9C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0" y="160934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DD9C8"/>
                </a:solidFill>
              </a:rPr>
              <a:t>T+10s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315200" y="188366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Action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315200" y="2212848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AAP executes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remediation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9189720" y="2926080"/>
            <a:ext cx="384048" cy="384048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363456" y="3127248"/>
            <a:ext cx="36576" cy="438912"/>
          </a:xfrm>
          <a:prstGeom prst="rect">
            <a:avLst/>
          </a:prstGeom>
          <a:solidFill>
            <a:srgbClr val="CBD5E1">
              <a:alpha val="60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915400" y="3566160"/>
            <a:ext cx="1508760" cy="1417320"/>
          </a:xfrm>
          <a:prstGeom prst="rect">
            <a:avLst/>
          </a:prstGeom>
          <a:solidFill>
            <a:srgbClr val="141F38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915400" y="3566160"/>
            <a:ext cx="150876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006840" y="36393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BD5E1"/>
                </a:solidFill>
              </a:rPr>
              <a:t>T+12s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9006840" y="391363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Notify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006840" y="4242816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Slack + SNOW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updated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0881360" y="2926080"/>
            <a:ext cx="384048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055096" y="2487168"/>
            <a:ext cx="36576" cy="457200"/>
          </a:xfrm>
          <a:prstGeom prst="rect">
            <a:avLst/>
          </a:prstGeom>
          <a:solidFill>
            <a:srgbClr val="22C55E">
              <a:alpha val="60000"/>
            </a:srgbClr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607040" y="1536192"/>
            <a:ext cx="1508760" cy="1417320"/>
          </a:xfrm>
          <a:prstGeom prst="rect">
            <a:avLst/>
          </a:prstGeom>
          <a:solidFill>
            <a:srgbClr val="141F38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607040" y="1536192"/>
            <a:ext cx="150876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698480" y="160934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T+60s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10698480" y="188366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Verified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10698480" y="2212848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nginx running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health confirmed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349240" y="5303520"/>
            <a:ext cx="2148840" cy="54864"/>
          </a:xfrm>
          <a:prstGeom prst="rect">
            <a:avLst/>
          </a:prstGeom>
          <a:solidFill>
            <a:srgbClr val="22C55E">
              <a:alpha val="6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5760" y="5486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</a:rPr>
              <a:t>⚡ EDA Fast Path — Known patterns remediated immediately (&lt; 5s)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65760" y="5486400"/>
            <a:ext cx="36576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65760" y="5833872"/>
            <a:ext cx="36576" cy="25603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2920" y="583387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D9C8"/>
                </a:solidFill>
              </a:rPr>
              <a:t>🧠 AI Smart Path — Contextual analysis with RAG + Granite → structured RCA → governed AAP execution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65760" y="6163056"/>
            <a:ext cx="36576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2920" y="616305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📋 Escalation Path — Unknown patterns: confidence &lt; 0.7 → ServiceNow INC created + Slack DM to NOC engineer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70C18"/>
          </a:solidFill>
          <a:ln w="12700">
            <a:solidFill>
              <a:srgbClr val="070C1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65760" y="660196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Red Hat  ·  Autonomous Dark NOC  ·  Confidential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11247120" y="66019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2026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00BFA5"/>
                </a:solidFill>
              </a:rPr>
              <a:t>AI ARCHITECTURE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Decision Engine &amp; Data Flow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LangGraph orchestrates four deterministic nodes — every decision is traceable.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4114800" cy="1115568"/>
          </a:xfrm>
          <a:prstGeom prst="rect">
            <a:avLst/>
          </a:prstGeom>
          <a:solidFill>
            <a:srgbClr val="141F38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72768"/>
            <a:ext cx="41148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642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</a:rPr>
              <a:t>1  CONSUME LOGS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195681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BD5E1"/>
                </a:solidFill>
              </a:rPr>
              <a:t>Kafka Consumer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219456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Reads nginx-logs topic.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Deserializes JSON event.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Creates IncidentState.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11680" y="268833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↓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4114800" cy="1115568"/>
          </a:xfrm>
          <a:prstGeom prst="rect">
            <a:avLst/>
          </a:prstGeom>
          <a:solidFill>
            <a:srgbClr val="141F38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834640"/>
            <a:ext cx="4114800" cy="457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9260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FA5"/>
                </a:solidFill>
              </a:rPr>
              <a:t>2  RAG RETRIEVAL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32186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BD5E1"/>
                </a:solidFill>
              </a:rPr>
              <a:t>pgvector Search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345643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Embeds log text.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Searches 719 runbook +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doc chunks for context.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11680" y="395020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FA5"/>
                </a:solidFill>
              </a:rPr>
              <a:t>↓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096512"/>
            <a:ext cx="4114800" cy="1115568"/>
          </a:xfrm>
          <a:prstGeom prst="rect">
            <a:avLst/>
          </a:prstGeom>
          <a:solidFill>
            <a:srgbClr val="141F38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4096512"/>
            <a:ext cx="411480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1879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C55E"/>
                </a:solidFill>
              </a:rPr>
              <a:t>3  AI ANALYSIS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" y="44805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BD5E1"/>
                </a:solidFill>
              </a:rPr>
              <a:t>Granite 4.0 + vLLM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471830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Structured JSON output.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xgrammar enforced schema.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Confidence + actions.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011680" y="52120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</a:rPr>
              <a:t>↓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5358384"/>
            <a:ext cx="4114800" cy="1115568"/>
          </a:xfrm>
          <a:prstGeom prst="rect">
            <a:avLst/>
          </a:prstGeom>
          <a:solidFill>
            <a:srgbClr val="141F38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5358384"/>
            <a:ext cx="4114800" cy="45720"/>
          </a:xfrm>
          <a:prstGeom prst="rect">
            <a:avLst/>
          </a:prstGeom>
          <a:solidFill>
            <a:srgbClr val="4DD9C8"/>
          </a:solidFill>
          <a:ln w="12700">
            <a:solidFill>
              <a:srgbClr val="4DD9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54498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DD9C8"/>
                </a:solidFill>
              </a:rPr>
              <a:t>4  REMEDIATE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2920" y="57424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BD5E1"/>
                </a:solidFill>
              </a:rPr>
              <a:t>MCP Tool Calls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" y="5980176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AAP restart playbook.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OpenShift pod health.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Slack success notify.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480560" y="305409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0000"/>
                </a:solidFill>
              </a:rPr>
              <a:t>→ ESCALATE (confidence &lt; 0.7)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46320" y="1572768"/>
            <a:ext cx="6949440" cy="1115568"/>
          </a:xfrm>
          <a:prstGeom prst="rect">
            <a:avLst/>
          </a:prstGeom>
          <a:solidFill>
            <a:srgbClr val="141F38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1572768"/>
            <a:ext cx="69494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16642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</a:rPr>
              <a:t>IBM Granite 4.0 H-Tiny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983480" y="195681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BD5E1"/>
                </a:solidFill>
              </a:rPr>
              <a:t>vLLM + RHOAI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83480" y="2194560"/>
            <a:ext cx="6629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GPU-accelerated on NVIDIA A10G. 128K context window. Mamba-2 + MoE architecture. Structured JSON output via xgrammar — zero hallucination risk on tool calls.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46320" y="2834640"/>
            <a:ext cx="6949440" cy="1115568"/>
          </a:xfrm>
          <a:prstGeom prst="rect">
            <a:avLst/>
          </a:prstGeom>
          <a:solidFill>
            <a:srgbClr val="141F38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2834640"/>
            <a:ext cx="6949440" cy="457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29260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FA5"/>
                </a:solidFill>
              </a:rPr>
              <a:t>RAG Knowledge Base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983480" y="32186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BD5E1"/>
                </a:solidFill>
              </a:rPr>
              <a:t>pgvector + LlamaStack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983480" y="3456432"/>
            <a:ext cx="6629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53 runbook chunks + 666 product doc chunks. HNSW vector index. all-MiniLM-L6-v2 embedding model. Top-5 semantic retrieval per incident query.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46320" y="4096512"/>
            <a:ext cx="6949440" cy="1115568"/>
          </a:xfrm>
          <a:prstGeom prst="rect">
            <a:avLst/>
          </a:prstGeom>
          <a:solidFill>
            <a:srgbClr val="141F38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46320" y="4096512"/>
            <a:ext cx="694944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83480" y="41879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C55E"/>
                </a:solidFill>
              </a:rPr>
              <a:t>LangGraph State Machine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983480" y="44805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BD5E1"/>
                </a:solidFill>
              </a:rPr>
              <a:t>Durable Checkpointing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983480" y="4718304"/>
            <a:ext cx="6629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PostgresSaver persists state to PostgreSQL. Agent resumes from last checkpoint after pod restart. Human-in-the-loop interrupt() gates on P1 incidents.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46320" y="5358384"/>
            <a:ext cx="6949440" cy="1115568"/>
          </a:xfrm>
          <a:prstGeom prst="rect">
            <a:avLst/>
          </a:prstGeom>
          <a:solidFill>
            <a:srgbClr val="141F38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846320" y="5358384"/>
            <a:ext cx="6949440" cy="45720"/>
          </a:xfrm>
          <a:prstGeom prst="rect">
            <a:avLst/>
          </a:prstGeom>
          <a:solidFill>
            <a:srgbClr val="4DD9C8"/>
          </a:solidFill>
          <a:ln w="12700">
            <a:solidFill>
              <a:srgbClr val="4DD9C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83480" y="54498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DD9C8"/>
                </a:solidFill>
              </a:rPr>
              <a:t>Langfuse AI Observability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4983480" y="57424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BD5E1"/>
                </a:solidFill>
              </a:rPr>
              <a:t>Full Trace + Metrics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983480" y="5980176"/>
            <a:ext cx="6629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Every Granite call, tool invocation, and RAG retrieval traced. ClickHouse OLAP backend. LLM-as-judge scoring. Post-incident forensics dashboard.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65760" y="6492240"/>
            <a:ext cx="11430000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70C18"/>
          </a:solidFill>
          <a:ln w="12700">
            <a:solidFill>
              <a:srgbClr val="070C1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660196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Red Hat  ·  Autonomous Dark NOC  ·  Confidential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11247120" y="66019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2026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00BFA5"/>
                </a:solidFill>
              </a:rPr>
              <a:t>INTEGRATION ARCHITECTURE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Context Protocol (MCP) Integration Layer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6 FastMCP servers connect the AI agent to every enterprise tool — with no hardcoded integrations.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09160" y="2377440"/>
            <a:ext cx="2743200" cy="1097280"/>
          </a:xfrm>
          <a:prstGeom prst="rect">
            <a:avLst/>
          </a:prstGeom>
          <a:solidFill>
            <a:srgbClr val="1B2B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09160" y="2377440"/>
            <a:ext cx="2743200" cy="5486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24505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FA5"/>
                </a:solidFill>
              </a:rPr>
              <a:t>🧠 LangGraph AI Agent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09160" y="27980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Granite 4.0 + LlamaStack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09160" y="30723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FastMCP 3.0 HTTP Transport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572768"/>
            <a:ext cx="2926080" cy="1051560"/>
          </a:xfrm>
          <a:prstGeom prst="rect">
            <a:avLst/>
          </a:prstGeom>
          <a:solidFill>
            <a:srgbClr val="141F38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572768"/>
            <a:ext cx="2926080" cy="36576"/>
          </a:xfrm>
          <a:prstGeom prst="rect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66420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E0000"/>
                </a:solidFill>
              </a:rPr>
              <a:t>⎈  mcp-openshift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1956816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BD5E1"/>
                </a:solidFill>
              </a:rPr>
              <a:t>→ OpenShift API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217627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get_pods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restart_deployment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get_cluster_health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65760" y="3566160"/>
            <a:ext cx="2926080" cy="1051560"/>
          </a:xfrm>
          <a:prstGeom prst="rect">
            <a:avLst/>
          </a:prstGeom>
          <a:solidFill>
            <a:srgbClr val="141F38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566160"/>
            <a:ext cx="29260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65760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📨  mcp-kafka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3950208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BD5E1"/>
                </a:solidFill>
              </a:rPr>
              <a:t>→ Kafka Broker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4169664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read_messages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publish_event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list_topics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65760" y="5559552"/>
            <a:ext cx="2926080" cy="1051560"/>
          </a:xfrm>
          <a:prstGeom prst="rect">
            <a:avLst/>
          </a:prstGeom>
          <a:solidFill>
            <a:srgbClr val="141F38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5559552"/>
            <a:ext cx="2926080" cy="36576"/>
          </a:xfrm>
          <a:prstGeom prst="rect">
            <a:avLst/>
          </a:prstGeom>
          <a:solidFill>
            <a:srgbClr val="4DD9C8"/>
          </a:solidFill>
          <a:ln w="12700">
            <a:solidFill>
              <a:srgbClr val="4DD9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565099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DD9C8"/>
                </a:solidFill>
              </a:rPr>
              <a:t>📊  mcp-lokistack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594360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BD5E1"/>
                </a:solidFill>
              </a:rPr>
              <a:t>→ LokiStack API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7200" y="6163056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query_logs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get_pod_logs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log_streams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9052560" y="1572768"/>
            <a:ext cx="2926080" cy="1051560"/>
          </a:xfrm>
          <a:prstGeom prst="rect">
            <a:avLst/>
          </a:prstGeom>
          <a:solidFill>
            <a:srgbClr val="141F38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052560" y="1572768"/>
            <a:ext cx="292608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0" y="166420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</a:rPr>
              <a:t>⚙️  mcp-aap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144000" y="1956816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BD5E1"/>
                </a:solidFill>
              </a:rPr>
              <a:t>→ AAP Controller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144000" y="217627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launch_job_template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get_job_status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list_templates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9052560" y="3566160"/>
            <a:ext cx="2926080" cy="1051560"/>
          </a:xfrm>
          <a:prstGeom prst="rect">
            <a:avLst/>
          </a:prstGeom>
          <a:solidFill>
            <a:srgbClr val="141F38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052560" y="3566160"/>
            <a:ext cx="292608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0" y="365760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BD5E1"/>
                </a:solidFill>
              </a:rPr>
              <a:t>🎫  mcp-servicenow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144000" y="3950208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BD5E1"/>
                </a:solidFill>
              </a:rPr>
              <a:t>→ ServiceNow API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9144000" y="4169664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create_incident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update_ticket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get_incident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9052560" y="5559552"/>
            <a:ext cx="2926080" cy="1051560"/>
          </a:xfrm>
          <a:prstGeom prst="rect">
            <a:avLst/>
          </a:prstGeom>
          <a:solidFill>
            <a:srgbClr val="141F38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052560" y="5559552"/>
            <a:ext cx="2926080" cy="36576"/>
          </a:xfrm>
          <a:prstGeom prst="rect">
            <a:avLst/>
          </a:prstGeom>
          <a:solidFill>
            <a:srgbClr val="4DD9C8"/>
          </a:solidFill>
          <a:ln w="12700">
            <a:solidFill>
              <a:srgbClr val="4DD9C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0" y="565099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DD9C8"/>
                </a:solidFill>
              </a:rPr>
              <a:t>💬  mcp-slack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144000" y="594360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BD5E1"/>
                </a:solidFill>
              </a:rPr>
              <a:t>→ Slack Bot API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9144000" y="6163056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send_alert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send_dm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format_message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291840" y="2487168"/>
            <a:ext cx="1417320" cy="36576"/>
          </a:xfrm>
          <a:prstGeom prst="rect">
            <a:avLst/>
          </a:prstGeom>
          <a:solidFill>
            <a:srgbClr val="243352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91840" y="4471416"/>
            <a:ext cx="1417320" cy="36576"/>
          </a:xfrm>
          <a:prstGeom prst="rect">
            <a:avLst/>
          </a:prstGeom>
          <a:solidFill>
            <a:srgbClr val="243352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91840" y="6464808"/>
            <a:ext cx="1417320" cy="36576"/>
          </a:xfrm>
          <a:prstGeom prst="rect">
            <a:avLst/>
          </a:prstGeom>
          <a:solidFill>
            <a:srgbClr val="243352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452360" y="2487168"/>
            <a:ext cx="1600200" cy="36576"/>
          </a:xfrm>
          <a:prstGeom prst="rect">
            <a:avLst/>
          </a:prstGeom>
          <a:solidFill>
            <a:srgbClr val="243352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52360" y="4471416"/>
            <a:ext cx="1600200" cy="36576"/>
          </a:xfrm>
          <a:prstGeom prst="rect">
            <a:avLst/>
          </a:prstGeom>
          <a:solidFill>
            <a:srgbClr val="243352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452360" y="6464808"/>
            <a:ext cx="1600200" cy="36576"/>
          </a:xfrm>
          <a:prstGeom prst="rect">
            <a:avLst/>
          </a:prstGeom>
          <a:solidFill>
            <a:srgbClr val="243352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70C18"/>
          </a:solidFill>
          <a:ln w="12700">
            <a:solidFill>
              <a:srgbClr val="070C1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660196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Red Hat  ·  Autonomous Dark NOC  ·  Confidential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11247120" y="66019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2026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00BFA5"/>
                </a:solidFill>
              </a:rPr>
              <a:t>SECURITY &amp; COMPLIANCE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Security &amp; Governance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Zero-trust by design. Every action is governed, audited, and rollback-capable.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5577840" cy="2231136"/>
          </a:xfrm>
          <a:prstGeom prst="rect">
            <a:avLst/>
          </a:prstGeom>
          <a:solidFill>
            <a:srgbClr val="141F38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72768"/>
            <a:ext cx="5577840" cy="457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82496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FA5"/>
                </a:solidFill>
              </a:rPr>
              <a:t>🔐  Zero Secrets in Code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167128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FA5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All credentials in Kubernetes Secrets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551176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FA5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Sealed Secrets for production GitOps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935224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FA5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cert-manager auto-rotates all TLS certificates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3319272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FA5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No plaintext credentials in container images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63640" y="1572768"/>
            <a:ext cx="5577840" cy="2231136"/>
          </a:xfrm>
          <a:prstGeom prst="rect">
            <a:avLst/>
          </a:prstGeom>
          <a:solidFill>
            <a:srgbClr val="141F38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1572768"/>
            <a:ext cx="557784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682496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</a:rPr>
              <a:t>🛡️  Least Privilege Access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46520" y="2167128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Scoped ServiceAccount tokens per component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46520" y="2551176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Namespace isolation — 8 dedicated namespaces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46520" y="2935224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RBAC: MCP servers access only their target system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46520" y="3319272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AAP inventory boundaries limit execution scope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4023360"/>
            <a:ext cx="5577840" cy="2231136"/>
          </a:xfrm>
          <a:prstGeom prst="rect">
            <a:avLst/>
          </a:prstGeom>
          <a:solidFill>
            <a:srgbClr val="141F38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4023360"/>
            <a:ext cx="55778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13308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🔒  AI Safety Guardrails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" y="4617720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vLLM xgrammar enforces structured JSON output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5001768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Prevents prompt injection from malicious log content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5385816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Confidence threshold gates (&lt; 0.7 → escalate, no auto-action)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5769864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Human-in-the-loop interrupt() for P1 incidents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63640" y="4023360"/>
            <a:ext cx="5577840" cy="2231136"/>
          </a:xfrm>
          <a:prstGeom prst="rect">
            <a:avLst/>
          </a:prstGeom>
          <a:solidFill>
            <a:srgbClr val="141F38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63640" y="4023360"/>
            <a:ext cx="5577840" cy="457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413308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D5E1"/>
                </a:solidFill>
              </a:rPr>
              <a:t>📋  Audit Trail &amp; Observability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446520" y="4617720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BD5E1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Every AI decision traced in Langfuse (ClickHouse OLAP)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46520" y="5001768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BD5E1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Every AAP job logged with job_id and output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46520" y="5385816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BD5E1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Every ServiceNow ticket tied to incident_id UUID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46520" y="5769864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BD5E1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Kafka incident-audit topic retains 90 days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5760" y="6199632"/>
            <a:ext cx="11430000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6245352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Edge-to-Hub connections initiated exclusively from Edge (no inbound firewall rules needed) · Service Mesh mTLS for all hub microservices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70C18"/>
          </a:solidFill>
          <a:ln w="12700">
            <a:solidFill>
              <a:srgbClr val="070C1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660196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Red Hat  ·  Autonomous Dark NOC  ·  Confidential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11247120" y="66019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2026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00BFA5"/>
                </a:solidFill>
              </a:rPr>
              <a:t>BUSINESS CASE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KPIs &amp; ROI Framework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Measurable executive-level metrics aligned to NOC performance and business outcomes.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7315200" cy="841248"/>
          </a:xfrm>
          <a:prstGeom prst="rect">
            <a:avLst/>
          </a:prstGeom>
          <a:solidFill>
            <a:srgbClr val="141F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72768"/>
            <a:ext cx="45720" cy="84124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MTTR Reduction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0299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Before: 15–45 min (manual)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834640" y="18013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43352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91840" y="1682496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After: &lt; 12 seconds (AI)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0" y="1709928"/>
            <a:ext cx="1828800" cy="548640"/>
          </a:xfrm>
          <a:prstGeom prst="rect">
            <a:avLst/>
          </a:prstGeom>
          <a:solidFill>
            <a:srgbClr val="00BFA5">
              <a:alpha val="20000"/>
            </a:srgbClr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17099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FA5"/>
                </a:solidFill>
              </a:rPr>
              <a:t>99% Faster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542032"/>
            <a:ext cx="7315200" cy="841248"/>
          </a:xfrm>
          <a:prstGeom prst="rect">
            <a:avLst/>
          </a:prstGeom>
          <a:solidFill>
            <a:srgbClr val="141F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542032"/>
            <a:ext cx="45720" cy="8412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6151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Auto-Remediation Rate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29992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Before: 0% (all manual)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834640" y="27706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43352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291840" y="26517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After: 94%+ of incidents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69280" y="2679192"/>
            <a:ext cx="1828800" cy="548640"/>
          </a:xfrm>
          <a:prstGeom prst="rect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0" y="267919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+94 pts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511296"/>
            <a:ext cx="7315200" cy="841248"/>
          </a:xfrm>
          <a:prstGeom prst="rect">
            <a:avLst/>
          </a:prstGeom>
          <a:solidFill>
            <a:srgbClr val="141F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511296"/>
            <a:ext cx="45720" cy="8412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5844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SLA Breach Reduction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396849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Before: Current baseline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834640" y="37398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43352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291840" y="3621024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After: &lt; 5% breach rate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669280" y="3648456"/>
            <a:ext cx="1828800" cy="548640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364845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60–80% fewer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480560"/>
            <a:ext cx="7315200" cy="841248"/>
          </a:xfrm>
          <a:prstGeom prst="rect">
            <a:avLst/>
          </a:prstGeom>
          <a:solidFill>
            <a:srgbClr val="141F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80560"/>
            <a:ext cx="45720" cy="841248"/>
          </a:xfrm>
          <a:prstGeom prst="rect">
            <a:avLst/>
          </a:prstGeom>
          <a:solidFill>
            <a:srgbClr val="4DD9C8"/>
          </a:solidFill>
          <a:ln w="12700">
            <a:solidFill>
              <a:srgbClr val="4DD9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553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NOC Bandwidth Recovered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4937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Before: 60–70% spent 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repetitive incidents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834640" y="4709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43352"/>
                </a:solidFill>
              </a:rPr>
              <a:t>→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291840" y="459028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After: &lt; 10% routine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incident handling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669280" y="4617720"/>
            <a:ext cx="1828800" cy="548640"/>
          </a:xfrm>
          <a:prstGeom prst="rect">
            <a:avLst/>
          </a:prstGeom>
          <a:solidFill>
            <a:srgbClr val="4DD9C8">
              <a:alpha val="20000"/>
            </a:srgbClr>
          </a:solidFill>
          <a:ln w="12700">
            <a:solidFill>
              <a:srgbClr val="4DD9C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0" y="4617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DD9C8"/>
                </a:solidFill>
              </a:rPr>
              <a:t>+7 hrs/week/engineer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" y="5449824"/>
            <a:ext cx="7315200" cy="841248"/>
          </a:xfrm>
          <a:prstGeom prst="rect">
            <a:avLst/>
          </a:prstGeom>
          <a:solidFill>
            <a:srgbClr val="141F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5760" y="5449824"/>
            <a:ext cx="45720" cy="84124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55229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Ticket Enrichment Quality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8640" y="59070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Before: Manual notes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(incomplete)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834640" y="567842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43352"/>
                </a:solidFill>
              </a:rPr>
              <a:t>→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3291840" y="555955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After: Auto RCA + full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remediation trace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669280" y="5586984"/>
            <a:ext cx="1828800" cy="548640"/>
          </a:xfrm>
          <a:prstGeom prst="rect">
            <a:avLst/>
          </a:prstGeom>
          <a:solidFill>
            <a:srgbClr val="CBD5E1">
              <a:alpha val="2000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69280" y="558698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D5E1"/>
                </a:solidFill>
              </a:rPr>
              <a:t>100% structured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046720" y="1572768"/>
            <a:ext cx="3749040" cy="5166360"/>
          </a:xfrm>
          <a:prstGeom prst="rect">
            <a:avLst/>
          </a:prstGeom>
          <a:solidFill>
            <a:srgbClr val="141F38"/>
          </a:solidFill>
          <a:ln w="10160">
            <a:solidFill>
              <a:srgbClr val="00BFA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046720" y="1572768"/>
            <a:ext cx="3749040" cy="5486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38160" y="16824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BFA5"/>
                </a:solidFill>
              </a:rPr>
              <a:t>ROI MODEL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138160" y="202996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CBD5E1"/>
                </a:solidFill>
              </a:rPr>
              <a:t>INPUTS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8138160" y="2304288"/>
            <a:ext cx="3474720" cy="347472"/>
          </a:xfrm>
          <a:prstGeom prst="rect">
            <a:avLst/>
          </a:prstGeom>
          <a:solidFill>
            <a:srgbClr val="1B2B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138160" y="23042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  Monthly incident volume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8138160" y="2779776"/>
            <a:ext cx="3474720" cy="347472"/>
          </a:xfrm>
          <a:prstGeom prst="rect">
            <a:avLst/>
          </a:prstGeom>
          <a:solidFill>
            <a:srgbClr val="1B2B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138160" y="277977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  % incidents → auto-path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8138160" y="3255264"/>
            <a:ext cx="3474720" cy="347472"/>
          </a:xfrm>
          <a:prstGeom prst="rect">
            <a:avLst/>
          </a:prstGeom>
          <a:solidFill>
            <a:srgbClr val="1B2B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138160" y="325526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  Avg. labor cost per incident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8138160" y="3730752"/>
            <a:ext cx="3474720" cy="347472"/>
          </a:xfrm>
          <a:prstGeom prst="rect">
            <a:avLst/>
          </a:prstGeom>
          <a:solidFill>
            <a:srgbClr val="1B2B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138160" y="373075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  SLA penalty exposure / month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8138160" y="4279392"/>
            <a:ext cx="3474720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138160" y="437083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0BFA5"/>
                </a:solidFill>
              </a:rPr>
              <a:t>OUTPUTS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8138160" y="4663440"/>
            <a:ext cx="3474720" cy="438912"/>
          </a:xfrm>
          <a:prstGeom prst="rect">
            <a:avLst/>
          </a:prstGeom>
          <a:solidFill>
            <a:srgbClr val="1B2B4A"/>
          </a:solidFill>
          <a:ln w="6350">
            <a:solidFill>
              <a:srgbClr val="00BFA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138160" y="4663440"/>
            <a:ext cx="347472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A5"/>
                </a:solidFill>
              </a:rPr>
              <a:t>→  Annual Labor Savings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8138160" y="5230368"/>
            <a:ext cx="3474720" cy="438912"/>
          </a:xfrm>
          <a:prstGeom prst="rect">
            <a:avLst/>
          </a:prstGeom>
          <a:solidFill>
            <a:srgbClr val="1B2B4A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138160" y="5230368"/>
            <a:ext cx="347472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→  Avoided SLA Penalties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8138160" y="5797296"/>
            <a:ext cx="3474720" cy="438912"/>
          </a:xfrm>
          <a:prstGeom prst="rect">
            <a:avLst/>
          </a:prstGeom>
          <a:solidFill>
            <a:srgbClr val="1B2B4A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138160" y="5797296"/>
            <a:ext cx="347472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→  Payback Period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70C18"/>
          </a:solidFill>
          <a:ln w="12700">
            <a:solidFill>
              <a:srgbClr val="070C1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5760" y="660196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Red Hat  ·  Autonomous Dark NOC  ·  Confidential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11247120" y="66019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2026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00BFA5"/>
                </a:solidFill>
              </a:rPr>
              <a:t>DELIVERY &amp; ROADMAP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Built · What's Next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Fully operational end-to-end system — 8-phase validated implementation complete.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3246120" cy="987552"/>
          </a:xfrm>
          <a:prstGeom prst="rect">
            <a:avLst/>
          </a:prstGeom>
          <a:solidFill>
            <a:srgbClr val="141F38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1682496"/>
            <a:ext cx="384048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</a:rPr>
              <a:t>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PHASE 01  Foundation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0120" y="201168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Operators · GPU node · Namespaces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840480" y="1572768"/>
            <a:ext cx="3246120" cy="987552"/>
          </a:xfrm>
          <a:prstGeom prst="rect">
            <a:avLst/>
          </a:prstGeom>
          <a:solidFill>
            <a:srgbClr val="141F38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50208" y="1682496"/>
            <a:ext cx="384048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50208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34840" y="16642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PHASE 02  Data Pipeline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434840" y="201168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Kafka · PostgreSQL · LokiStack · Langfuse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2715768"/>
            <a:ext cx="3246120" cy="987552"/>
          </a:xfrm>
          <a:prstGeom prst="rect">
            <a:avLst/>
          </a:prstGeom>
          <a:solidFill>
            <a:srgbClr val="141F38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" y="2825496"/>
            <a:ext cx="384048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825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28072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PHASE 03  AI Core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60120" y="315468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vLLM · Granite 4.0 · LlamaStack · 719 RAG chunks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840480" y="2715768"/>
            <a:ext cx="3246120" cy="987552"/>
          </a:xfrm>
          <a:prstGeom prst="rect">
            <a:avLst/>
          </a:prstGeom>
          <a:solidFill>
            <a:srgbClr val="141F38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50208" y="2825496"/>
            <a:ext cx="384048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50208" y="2825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34840" y="28072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PHASE 04  Automation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434840" y="315468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AAP 2.5 · EDA · ACM 2.15 · Edge fast-path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3858768"/>
            <a:ext cx="3246120" cy="987552"/>
          </a:xfrm>
          <a:prstGeom prst="rect">
            <a:avLst/>
          </a:prstGeom>
          <a:solidFill>
            <a:srgbClr val="141F38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" y="3968496"/>
            <a:ext cx="384048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0120" y="39502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PHASE 05  Agent &amp; MCP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60120" y="429768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LangGraph 1.0 · 6 FastMCP servers · Full E2E test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840480" y="3858768"/>
            <a:ext cx="3246120" cy="987552"/>
          </a:xfrm>
          <a:prstGeom prst="rect">
            <a:avLst/>
          </a:prstGeom>
          <a:solidFill>
            <a:srgbClr val="141F38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950208" y="3968496"/>
            <a:ext cx="384048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50208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</a:rPr>
              <a:t>✓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434840" y="39502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PHASE 06  Dashboard &amp; UX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434840" y="429768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React NOC dashboard · Chatbot · ServiceNow mock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65760" y="5001768"/>
            <a:ext cx="3246120" cy="987552"/>
          </a:xfrm>
          <a:prstGeom prst="rect">
            <a:avLst/>
          </a:prstGeom>
          <a:solidFill>
            <a:srgbClr val="141F38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" y="5111496"/>
            <a:ext cx="384048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" y="5111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</a:rPr>
              <a:t>✓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60120" y="50932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PHASE 07  Edge Workloads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60120" y="544068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nginx · Log generator · ACM GitOps · EDA edge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840480" y="5001768"/>
            <a:ext cx="3246120" cy="987552"/>
          </a:xfrm>
          <a:prstGeom prst="rect">
            <a:avLst/>
          </a:prstGeom>
          <a:solidFill>
            <a:srgbClr val="141F38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950208" y="5111496"/>
            <a:ext cx="384048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50208" y="5111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</a:rPr>
              <a:t>✓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434840" y="50932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PHASE 08  Validation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434840" y="544068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End-to-end scenarios tested and documented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315200" y="1572768"/>
            <a:ext cx="4480560" cy="5074920"/>
          </a:xfrm>
          <a:prstGeom prst="rect">
            <a:avLst/>
          </a:prstGeom>
          <a:solidFill>
            <a:srgbClr val="141F38"/>
          </a:solidFill>
          <a:ln w="10160">
            <a:solidFill>
              <a:srgbClr val="00BFA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00" y="1572768"/>
            <a:ext cx="4480560" cy="5486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52360" y="16916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BFA5"/>
                </a:solidFill>
              </a:rPr>
              <a:t>SCALE ROADMAP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406640" y="2029968"/>
            <a:ext cx="4297680" cy="256032"/>
          </a:xfrm>
          <a:prstGeom prst="rect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52360" y="2029968"/>
            <a:ext cx="425196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Phase 1 — NOW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498080" y="230428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✓ Complete E2E system operational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498080" y="267004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✓ MTTR &lt; 12s validated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498080" y="303580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✓ 6 MCP integrations active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498080" y="340156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✓ Governance + audit chain live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406640" y="3904488"/>
            <a:ext cx="4297680" cy="256032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452360" y="3904488"/>
            <a:ext cx="425196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Phase 2 — Q2 2026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7498080" y="417880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→ Scale to 5+ additional edge sites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7498080" y="454456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→ Expand failure catalog (50+ patterns)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7498080" y="491032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→ Predictive anomaly detection models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7498080" y="527608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→ Policy-driven approval workflows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406640" y="5779008"/>
            <a:ext cx="4297680" cy="256032"/>
          </a:xfrm>
          <a:prstGeom prst="rect">
            <a:avLst/>
          </a:prstGeom>
          <a:solidFill>
            <a:srgbClr val="4DD9C8">
              <a:alpha val="20000"/>
            </a:srgbClr>
          </a:solidFill>
          <a:ln w="12700">
            <a:solidFill>
              <a:srgbClr val="4DD9C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452360" y="5779008"/>
            <a:ext cx="425196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DD9C8"/>
                </a:solidFill>
              </a:rPr>
              <a:t>Phase 3 — Q3 2026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7498080" y="605332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→ Multi-region production rollout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7498080" y="641908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→ ITSM workflow deep integration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7498080" y="678484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→ AI model fine-tuning on telco data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7498080" y="715060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→ Cost optimization recommendations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70C18"/>
          </a:solidFill>
          <a:ln w="12700">
            <a:solidFill>
              <a:srgbClr val="070C1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65760" y="660196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Red Hat  ·  Autonomous Dark NOC  ·  Confidential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11247120" y="66019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2026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"/>
            <a:ext cx="54864" cy="59436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BFA5"/>
                </a:solidFill>
              </a:rPr>
              <a:t>DECISION REQUIRED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to Production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5943600" cy="45720"/>
          </a:xfrm>
          <a:prstGeom prst="rect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91640"/>
            <a:ext cx="5577840" cy="2103120"/>
          </a:xfrm>
          <a:prstGeom prst="rect">
            <a:avLst/>
          </a:prstGeom>
          <a:solidFill>
            <a:srgbClr val="141F38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691640"/>
            <a:ext cx="54864" cy="2103120"/>
          </a:xfrm>
          <a:prstGeom prst="rect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188720" y="1801368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Approve Pilot-to-Production Plan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459736"/>
            <a:ext cx="5303520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587752"/>
            <a:ext cx="5303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Sponsor the 12-week rollout of Dark NOC to production telco operations. Approve budget allocation for edge scale-out infrastructure and Red Hat subscriptions.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63640" y="1691640"/>
            <a:ext cx="5577840" cy="2103120"/>
          </a:xfrm>
          <a:prstGeom prst="rect">
            <a:avLst/>
          </a:prstGeom>
          <a:solidFill>
            <a:srgbClr val="141F38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691640"/>
            <a:ext cx="54864" cy="21031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B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7086600" y="1801368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Sponsor KPI Baseline &amp; Value Tracking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46520" y="2459736"/>
            <a:ext cx="5303520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2587752"/>
            <a:ext cx="5303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Establish MTTR, auto-remediation rate, and SLA breach baselines. Commit to 8-week measurement cycle to demonstrate ROI against pre-deployment benchmarks.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977640"/>
            <a:ext cx="5577840" cy="2103120"/>
          </a:xfrm>
          <a:prstGeom prst="rect">
            <a:avLst/>
          </a:prstGeom>
          <a:solidFill>
            <a:srgbClr val="141F3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977640"/>
            <a:ext cx="54864" cy="2103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069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1188720" y="4087368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Align Leadership on Governance Controls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745736"/>
            <a:ext cx="5303520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873752"/>
            <a:ext cx="5303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Network Ops + Platform Ops + Security must align on: AI action approval policy, playbook authorization boundaries, and escalation thresholds.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63640" y="3977640"/>
            <a:ext cx="5577840" cy="2103120"/>
          </a:xfrm>
          <a:prstGeom prst="rect">
            <a:avLst/>
          </a:prstGeom>
          <a:solidFill>
            <a:srgbClr val="141F38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63640" y="3977640"/>
            <a:ext cx="54864" cy="21031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4069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7086600" y="4087368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Fund Edge Scale-Out (Phase 2)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46520" y="4745736"/>
            <a:ext cx="5303520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4873752"/>
            <a:ext cx="5303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Approve budget for 5 additional edge site onboarding. Estimated timeline: 4 weeks per site using validated runbooks and repeatable GitOps patterns.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0" y="6053328"/>
            <a:ext cx="12161520" cy="512064"/>
          </a:xfrm>
          <a:prstGeom prst="rect">
            <a:avLst/>
          </a:prstGeom>
          <a:solidFill>
            <a:srgbClr val="141F38"/>
          </a:solidFill>
          <a:ln w="12700">
            <a:solidFill>
              <a:srgbClr val="141F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61264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Dark NOC  ·  Autonomous Operations  ·  Red Hat OpenShift AI  ·  msugur@redhat.com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00BFA5"/>
                </a:solidFill>
              </a:rPr>
              <a:t>APPENDIX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Stack — Complete Product Versions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All components are operator-managed, enterprise-supported, and production-validated.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11430000" cy="347472"/>
          </a:xfrm>
          <a:prstGeom prst="rect">
            <a:avLst/>
          </a:prstGeom>
          <a:solidFill>
            <a:srgbClr val="00BFA5">
              <a:alpha val="80000"/>
            </a:srgbClr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2763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F1E"/>
                </a:solidFill>
              </a:rPr>
              <a:t>Component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0" y="162763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F1E"/>
                </a:solidFill>
              </a:rPr>
              <a:t>Version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0" y="162763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F1E"/>
                </a:solidFill>
              </a:rPr>
              <a:t>License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0" y="1627632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F1E"/>
                </a:solidFill>
              </a:rPr>
              <a:t>Role in Dark NOC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920240"/>
            <a:ext cx="11430000" cy="329184"/>
          </a:xfrm>
          <a:prstGeom prst="rect">
            <a:avLst/>
          </a:prstGeom>
          <a:solidFill>
            <a:srgbClr val="141F38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75104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OpenShift Container Platform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0" y="197510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FA5"/>
                </a:solidFill>
              </a:rPr>
              <a:t>4.21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0" y="197510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RH Subscription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0" y="1975104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Container runtime — Hub + Edge clusters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249424"/>
            <a:ext cx="11430000" cy="329184"/>
          </a:xfrm>
          <a:prstGeom prst="rect">
            <a:avLst/>
          </a:prstGeom>
          <a:solidFill>
            <a:srgbClr val="1B2B4A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30428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Red Hat OpenShift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0" y="230428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FA5"/>
                </a:solidFill>
              </a:rPr>
              <a:t>3.3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0" y="230428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RH Subscription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0" y="2304288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MLOps + model serving + LlamaStack operator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578608"/>
            <a:ext cx="11430000" cy="329184"/>
          </a:xfrm>
          <a:prstGeom prst="rect">
            <a:avLst/>
          </a:prstGeom>
          <a:solidFill>
            <a:srgbClr val="141F38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63347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Ansible Automation Platform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0" y="263347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FA5"/>
                </a:solidFill>
              </a:rPr>
              <a:t>2.5 + EDA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0" y="263347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RH Subscription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58000" y="2633472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Remediation execution + event-driven automation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2907792"/>
            <a:ext cx="11430000" cy="329184"/>
          </a:xfrm>
          <a:prstGeom prst="rect">
            <a:avLst/>
          </a:prstGeom>
          <a:solidFill>
            <a:srgbClr val="1B2B4A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96265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Advanced Cluster Management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0" y="296265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FA5"/>
                </a:solidFill>
              </a:rPr>
              <a:t>2.15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0" y="2962656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RH Subscription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858000" y="296265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Multi-cluster fleet + GitOps policy management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3236976"/>
            <a:ext cx="11430000" cy="329184"/>
          </a:xfrm>
          <a:prstGeom prst="rect">
            <a:avLst/>
          </a:prstGeom>
          <a:solidFill>
            <a:srgbClr val="141F38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29184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Streams for Apache Kafka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0" y="329184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FA5"/>
                </a:solidFill>
              </a:rPr>
              <a:t>3.1 KRaft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0" y="329184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RH Subscription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58000" y="329184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Edge-to-hub event streaming backbone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3566160"/>
            <a:ext cx="11430000" cy="329184"/>
          </a:xfrm>
          <a:prstGeom prst="rect">
            <a:avLst/>
          </a:prstGeom>
          <a:solidFill>
            <a:srgbClr val="1B2B4A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621024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OpenShift Logging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0" y="362102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FA5"/>
                </a:solidFill>
              </a:rPr>
              <a:t>6.4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29200" y="362102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RH Subscription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858000" y="3621024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Vector log collection + LokiStack storage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65760" y="3895344"/>
            <a:ext cx="11430000" cy="329184"/>
          </a:xfrm>
          <a:prstGeom prst="rect">
            <a:avLst/>
          </a:prstGeom>
          <a:solidFill>
            <a:srgbClr val="141F38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395020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IBM Granite 4.0 H-Tiny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657600" y="395020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FA5"/>
                </a:solidFill>
              </a:rPr>
              <a:t>4.0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029200" y="395020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Apache 2.0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858000" y="3950208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Primary AI model — structured RCA analysis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5760" y="4224528"/>
            <a:ext cx="11430000" cy="329184"/>
          </a:xfrm>
          <a:prstGeom prst="rect">
            <a:avLst/>
          </a:prstGeom>
          <a:solidFill>
            <a:srgbClr val="1B2B4A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27939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LlamaStack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657600" y="427939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FA5"/>
                </a:solidFill>
              </a:rPr>
              <a:t>0.3.5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029200" y="427939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Apache 2.0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858000" y="4279392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Agent orchestration framework + RHOAI operator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65760" y="4553712"/>
            <a:ext cx="11430000" cy="329184"/>
          </a:xfrm>
          <a:prstGeom prst="rect">
            <a:avLst/>
          </a:prstGeom>
          <a:solidFill>
            <a:srgbClr val="141F38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460857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LangGraph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657600" y="460857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FA5"/>
                </a:solidFill>
              </a:rPr>
              <a:t>1.0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029200" y="4608576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MIT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858000" y="460857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Stateful NOC agent graph + durable checkpointing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65760" y="4882896"/>
            <a:ext cx="11430000" cy="329184"/>
          </a:xfrm>
          <a:prstGeom prst="rect">
            <a:avLst/>
          </a:prstGeom>
          <a:solidFill>
            <a:srgbClr val="1B2B4A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493776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vLLM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657600" y="493776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FA5"/>
                </a:solidFill>
              </a:rPr>
              <a:t>0.15.1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029200" y="493776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Apache 2.0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858000" y="493776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GPU inference runtime + xgrammar structured output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65760" y="5212080"/>
            <a:ext cx="11430000" cy="329184"/>
          </a:xfrm>
          <a:prstGeom prst="rect">
            <a:avLst/>
          </a:prstGeom>
          <a:solidFill>
            <a:srgbClr val="141F38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5266944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Langfuse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3657600" y="526694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FA5"/>
                </a:solidFill>
              </a:rPr>
              <a:t>3.14.5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029200" y="526694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Apache 2.0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858000" y="5266944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AI observability — traces, metrics, LLM-as-judge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365760" y="5541264"/>
            <a:ext cx="11430000" cy="329184"/>
          </a:xfrm>
          <a:prstGeom prst="rect">
            <a:avLst/>
          </a:prstGeom>
          <a:solidFill>
            <a:srgbClr val="1B2B4A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57200" y="559612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FastMCP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3657600" y="559612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FA5"/>
                </a:solidFill>
              </a:rPr>
              <a:t>3.0.2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5029200" y="559612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MIT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6858000" y="5596128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6 MCP servers — Streamable HTTP transport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365760" y="5870448"/>
            <a:ext cx="11430000" cy="329184"/>
          </a:xfrm>
          <a:prstGeom prst="rect">
            <a:avLst/>
          </a:prstGeom>
          <a:solidFill>
            <a:srgbClr val="141F38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7200" y="592531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pgvector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3657600" y="592531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FA5"/>
                </a:solidFill>
              </a:rPr>
              <a:t>0.8.1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5029200" y="592531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PostgreSQL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6858000" y="5925312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RAG knowledge base — 719 vector chunks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365760" y="6199632"/>
            <a:ext cx="11430000" cy="329184"/>
          </a:xfrm>
          <a:prstGeom prst="rect">
            <a:avLst/>
          </a:prstGeom>
          <a:solidFill>
            <a:srgbClr val="1B2B4A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57200" y="625449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MinIO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3657600" y="625449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FA5"/>
                </a:solidFill>
              </a:rPr>
              <a:t>Latest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5029200" y="6254496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AGPL 3.0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6858000" y="62544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Object storage — 3 buckets (models, logs, data)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70C18"/>
          </a:solidFill>
          <a:ln w="12700">
            <a:solidFill>
              <a:srgbClr val="070C1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65760" y="660196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Red Hat  ·  Autonomous Dark NOC  ·  Confidential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11247120" y="66019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2026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Dark NOC — AI-Driven Telco Operations</dc:title>
  <dc:subject>PptxGenJS Presentation</dc:subject>
  <dc:creator>Mithun Sugur — Red Hat</dc:creator>
  <cp:lastModifiedBy>Mithun Sugur — Red Hat</cp:lastModifiedBy>
  <cp:revision>1</cp:revision>
  <dcterms:created xsi:type="dcterms:W3CDTF">2026-03-09T20:07:50Z</dcterms:created>
  <dcterms:modified xsi:type="dcterms:W3CDTF">2026-03-09T20:07:50Z</dcterms:modified>
</cp:coreProperties>
</file>